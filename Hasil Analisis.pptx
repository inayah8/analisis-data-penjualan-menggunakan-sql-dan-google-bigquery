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9"/>
  </p:notesMasterIdLst>
  <p:sldIdLst>
    <p:sldId id="305" r:id="rId2"/>
    <p:sldId id="301" r:id="rId3"/>
    <p:sldId id="304" r:id="rId4"/>
    <p:sldId id="306" r:id="rId5"/>
    <p:sldId id="297" r:id="rId6"/>
    <p:sldId id="299" r:id="rId7"/>
    <p:sldId id="266" r:id="rId8"/>
  </p:sldIdLst>
  <p:sldSz cx="9144000" cy="5143500" type="screen16x9"/>
  <p:notesSz cx="6858000" cy="9144000"/>
  <p:embeddedFontLst>
    <p:embeddedFont>
      <p:font typeface="Libre Franklin" pitchFamily="2" charset="0"/>
      <p:regular r:id="rId10"/>
      <p:bold r:id="rId11"/>
      <p:italic r:id="rId12"/>
      <p:boldItalic r:id="rId13"/>
    </p:embeddedFont>
    <p:embeddedFont>
      <p:font typeface="Nunito Light" pitchFamily="2" charset="0"/>
      <p:regular r:id="rId14"/>
      <p: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Raleway" pitchFamily="2" charset="0"/>
      <p:regular r:id="rId20"/>
      <p:bold r:id="rId21"/>
      <p:italic r:id="rId22"/>
      <p:boldItalic r:id="rId23"/>
    </p:embeddedFont>
    <p:embeddedFont>
      <p:font typeface="Sofia Sans" panose="020B0604020202020204" charset="0"/>
      <p:regular r:id="rId24"/>
      <p:bold r:id="rId25"/>
      <p:italic r:id="rId26"/>
      <p:boldItalic r:id="rId27"/>
    </p:embeddedFont>
    <p:embeddedFont>
      <p:font typeface="Sofia Sans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AB350"/>
    <a:srgbClr val="757FC5"/>
    <a:srgbClr val="9B79C1"/>
    <a:srgbClr val="F66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4B7BEC-9ED2-4A78-9898-7718746B55BD}">
  <a:tblStyle styleId="{794B7BEC-9ED2-4A78-9898-7718746B55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604679C-C611-435D-8FBF-8BED21A3B1A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1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font" Target="fonts/font19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openxmlformats.org/officeDocument/2006/relationships/font" Target="fonts/font22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font" Target="fonts/font18.fntdata"/><Relationship Id="rId30" Type="http://schemas.openxmlformats.org/officeDocument/2006/relationships/font" Target="fonts/font2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87b6de8bc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87b6de8bc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1145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433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7539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6095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7451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5155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9625" y="-25"/>
            <a:ext cx="9188400" cy="5143500"/>
            <a:chOff x="-100" y="-9725"/>
            <a:chExt cx="9188400" cy="5143500"/>
          </a:xfrm>
        </p:grpSpPr>
        <p:cxnSp>
          <p:nvCxnSpPr>
            <p:cNvPr id="10" name="Google Shape;10;p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Sofia Sans"/>
                <a:ea typeface="Sofia Sans"/>
                <a:cs typeface="Sofia Sans"/>
                <a:sym typeface="Sofia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1093100" y="195425"/>
            <a:ext cx="8275575" cy="4107200"/>
            <a:chOff x="1093100" y="195425"/>
            <a:chExt cx="8275575" cy="4107200"/>
          </a:xfrm>
        </p:grpSpPr>
        <p:sp>
          <p:nvSpPr>
            <p:cNvPr id="15" name="Google Shape;15;p2"/>
            <p:cNvSpPr/>
            <p:nvPr/>
          </p:nvSpPr>
          <p:spPr>
            <a:xfrm>
              <a:off x="8781875" y="3715825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707525" y="3127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093100" y="19542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8125" y="257175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>
            <a:spLocks noGrp="1"/>
          </p:cNvSpPr>
          <p:nvPr>
            <p:ph type="title"/>
          </p:nvPr>
        </p:nvSpPr>
        <p:spPr>
          <a:xfrm>
            <a:off x="832975" y="820375"/>
            <a:ext cx="3945300" cy="98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ubTitle" idx="1"/>
          </p:nvPr>
        </p:nvSpPr>
        <p:spPr>
          <a:xfrm>
            <a:off x="832975" y="1779100"/>
            <a:ext cx="3945300" cy="246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72" name="Google Shape;72;p7"/>
          <p:cNvSpPr>
            <a:spLocks noGrp="1"/>
          </p:cNvSpPr>
          <p:nvPr>
            <p:ph type="pic" idx="2"/>
          </p:nvPr>
        </p:nvSpPr>
        <p:spPr>
          <a:xfrm>
            <a:off x="5197850" y="150"/>
            <a:ext cx="3084600" cy="51435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3" name="Google Shape;73;p7"/>
          <p:cNvGrpSpPr/>
          <p:nvPr/>
        </p:nvGrpSpPr>
        <p:grpSpPr>
          <a:xfrm>
            <a:off x="466325" y="297350"/>
            <a:ext cx="8869225" cy="4942950"/>
            <a:chOff x="466325" y="297350"/>
            <a:chExt cx="8869225" cy="4942950"/>
          </a:xfrm>
        </p:grpSpPr>
        <p:sp>
          <p:nvSpPr>
            <p:cNvPr id="74" name="Google Shape;74;p7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6" name="Google Shape;76;p7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7" name="Google Shape;77;p7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8" name="Google Shape;78;p7"/>
            <p:cNvSpPr/>
            <p:nvPr/>
          </p:nvSpPr>
          <p:spPr>
            <a:xfrm flipH="1">
              <a:off x="8870550" y="4775300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79" name="Google Shape;79;p7"/>
          <p:cNvGrpSpPr/>
          <p:nvPr/>
        </p:nvGrpSpPr>
        <p:grpSpPr>
          <a:xfrm rot="10800000" flipH="1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80" name="Google Shape;80;p7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7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6863521" y="2951897"/>
            <a:ext cx="2316450" cy="2212375"/>
            <a:chOff x="7507625" y="2942125"/>
            <a:chExt cx="2316450" cy="2212375"/>
          </a:xfrm>
        </p:grpSpPr>
        <p:sp>
          <p:nvSpPr>
            <p:cNvPr id="85" name="Google Shape;85;p8"/>
            <p:cNvSpPr/>
            <p:nvPr/>
          </p:nvSpPr>
          <p:spPr>
            <a:xfrm flipH="1">
              <a:off x="7507625" y="49277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9452600" y="388477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407600" y="496535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9551375" y="29421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9359075" y="425717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90" name="Google Shape;90;p8"/>
          <p:cNvGrpSpPr/>
          <p:nvPr/>
        </p:nvGrpSpPr>
        <p:grpSpPr>
          <a:xfrm rot="10800000" flipH="1">
            <a:off x="-8429" y="-9725"/>
            <a:ext cx="9188400" cy="5153273"/>
            <a:chOff x="-100" y="-9725"/>
            <a:chExt cx="9188400" cy="5143500"/>
          </a:xfrm>
        </p:grpSpPr>
        <p:cxnSp>
          <p:nvCxnSpPr>
            <p:cNvPr id="91" name="Google Shape;91;p8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6" name="Google Shape;96;p9"/>
          <p:cNvGrpSpPr/>
          <p:nvPr/>
        </p:nvGrpSpPr>
        <p:grpSpPr>
          <a:xfrm>
            <a:off x="-22200" y="297350"/>
            <a:ext cx="2982725" cy="4781850"/>
            <a:chOff x="-22200" y="297350"/>
            <a:chExt cx="2982725" cy="4781850"/>
          </a:xfrm>
        </p:grpSpPr>
        <p:sp>
          <p:nvSpPr>
            <p:cNvPr id="97" name="Google Shape;97;p9"/>
            <p:cNvSpPr/>
            <p:nvPr/>
          </p:nvSpPr>
          <p:spPr>
            <a:xfrm flipH="1">
              <a:off x="2733725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8" name="Google Shape;98;p9"/>
            <p:cNvSpPr/>
            <p:nvPr/>
          </p:nvSpPr>
          <p:spPr>
            <a:xfrm flipH="1">
              <a:off x="913250" y="2973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 flipH="1">
              <a:off x="466325" y="156810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0" name="Google Shape;100;p9"/>
            <p:cNvSpPr/>
            <p:nvPr/>
          </p:nvSpPr>
          <p:spPr>
            <a:xfrm flipH="1">
              <a:off x="913250" y="477530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01" name="Google Shape;101;p9"/>
            <p:cNvSpPr/>
            <p:nvPr/>
          </p:nvSpPr>
          <p:spPr>
            <a:xfrm flipH="1">
              <a:off x="-22200" y="238452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102" name="Google Shape;102;p9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103" name="Google Shape;103;p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93550"/>
            <a:ext cx="3841500" cy="10593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0" name="Google Shape;110;p11"/>
          <p:cNvSpPr txBox="1">
            <a:spLocks noGrp="1"/>
          </p:cNvSpPr>
          <p:nvPr>
            <p:ph type="subTitle" idx="1"/>
          </p:nvPr>
        </p:nvSpPr>
        <p:spPr>
          <a:xfrm>
            <a:off x="713225" y="2852850"/>
            <a:ext cx="3841500" cy="497100"/>
          </a:xfrm>
          <a:prstGeom prst="rect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112" name="Google Shape;112;p11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11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9"/>
          <p:cNvSpPr txBox="1">
            <a:spLocks noGrp="1"/>
          </p:cNvSpPr>
          <p:nvPr>
            <p:ph type="subTitle" idx="1"/>
          </p:nvPr>
        </p:nvSpPr>
        <p:spPr>
          <a:xfrm>
            <a:off x="1035375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9"/>
          <p:cNvSpPr txBox="1">
            <a:spLocks noGrp="1"/>
          </p:cNvSpPr>
          <p:nvPr>
            <p:ph type="subTitle" idx="2"/>
          </p:nvPr>
        </p:nvSpPr>
        <p:spPr>
          <a:xfrm>
            <a:off x="3455250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9"/>
          <p:cNvSpPr txBox="1">
            <a:spLocks noGrp="1"/>
          </p:cNvSpPr>
          <p:nvPr>
            <p:ph type="subTitle" idx="3"/>
          </p:nvPr>
        </p:nvSpPr>
        <p:spPr>
          <a:xfrm>
            <a:off x="1035375" y="3324323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9"/>
          <p:cNvSpPr txBox="1">
            <a:spLocks noGrp="1"/>
          </p:cNvSpPr>
          <p:nvPr>
            <p:ph type="subTitle" idx="4"/>
          </p:nvPr>
        </p:nvSpPr>
        <p:spPr>
          <a:xfrm>
            <a:off x="3455250" y="3324323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subTitle" idx="5"/>
          </p:nvPr>
        </p:nvSpPr>
        <p:spPr>
          <a:xfrm>
            <a:off x="5875125" y="1616196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6"/>
          </p:nvPr>
        </p:nvSpPr>
        <p:spPr>
          <a:xfrm>
            <a:off x="5875125" y="3324323"/>
            <a:ext cx="2233500" cy="120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7"/>
          </p:nvPr>
        </p:nvSpPr>
        <p:spPr>
          <a:xfrm>
            <a:off x="1035375" y="1312275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8"/>
          </p:nvPr>
        </p:nvSpPr>
        <p:spPr>
          <a:xfrm>
            <a:off x="3456450" y="1312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9"/>
          </p:nvPr>
        </p:nvSpPr>
        <p:spPr>
          <a:xfrm>
            <a:off x="5875125" y="1312275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13"/>
          </p:nvPr>
        </p:nvSpPr>
        <p:spPr>
          <a:xfrm>
            <a:off x="1035375" y="3020301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ubTitle" idx="14"/>
          </p:nvPr>
        </p:nvSpPr>
        <p:spPr>
          <a:xfrm>
            <a:off x="3456450" y="3020306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15"/>
          </p:nvPr>
        </p:nvSpPr>
        <p:spPr>
          <a:xfrm>
            <a:off x="5875125" y="3020306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223" name="Google Shape;223;p19"/>
          <p:cNvGrpSpPr/>
          <p:nvPr/>
        </p:nvGrpSpPr>
        <p:grpSpPr>
          <a:xfrm flipH="1">
            <a:off x="-100" y="-9725"/>
            <a:ext cx="9188400" cy="5143500"/>
            <a:chOff x="-100" y="-9725"/>
            <a:chExt cx="9188400" cy="5143500"/>
          </a:xfrm>
        </p:grpSpPr>
        <p:cxnSp>
          <p:nvCxnSpPr>
            <p:cNvPr id="224" name="Google Shape;224;p19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19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6" name="Google Shape;226;p19"/>
          <p:cNvSpPr/>
          <p:nvPr/>
        </p:nvSpPr>
        <p:spPr>
          <a:xfrm rot="10800000" flipH="1">
            <a:off x="2478750" y="-3862900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27" name="Google Shape;227;p19"/>
          <p:cNvGrpSpPr/>
          <p:nvPr/>
        </p:nvGrpSpPr>
        <p:grpSpPr>
          <a:xfrm>
            <a:off x="194325" y="-388575"/>
            <a:ext cx="8741550" cy="2176725"/>
            <a:chOff x="194325" y="-388575"/>
            <a:chExt cx="8741550" cy="2176725"/>
          </a:xfrm>
        </p:grpSpPr>
        <p:sp>
          <p:nvSpPr>
            <p:cNvPr id="228" name="Google Shape;228;p19"/>
            <p:cNvSpPr/>
            <p:nvPr/>
          </p:nvSpPr>
          <p:spPr>
            <a:xfrm rot="10800000">
              <a:off x="8784375" y="1982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29" name="Google Shape;229;p19"/>
            <p:cNvSpPr/>
            <p:nvPr/>
          </p:nvSpPr>
          <p:spPr>
            <a:xfrm rot="10800000">
              <a:off x="4278600" y="-388575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0" name="Google Shape;230;p19"/>
            <p:cNvSpPr/>
            <p:nvPr/>
          </p:nvSpPr>
          <p:spPr>
            <a:xfrm rot="10800000">
              <a:off x="194325" y="2675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1" name="Google Shape;231;p19"/>
            <p:cNvSpPr/>
            <p:nvPr/>
          </p:nvSpPr>
          <p:spPr>
            <a:xfrm rot="10800000">
              <a:off x="421125" y="10177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32" name="Google Shape;232;p19"/>
            <p:cNvSpPr/>
            <p:nvPr/>
          </p:nvSpPr>
          <p:spPr>
            <a:xfrm rot="10800000">
              <a:off x="268575" y="1710150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" name="Google Shape;257;p22"/>
          <p:cNvGrpSpPr/>
          <p:nvPr/>
        </p:nvGrpSpPr>
        <p:grpSpPr>
          <a:xfrm flipH="1">
            <a:off x="-22200" y="3079850"/>
            <a:ext cx="1556325" cy="1999350"/>
            <a:chOff x="8267750" y="3079850"/>
            <a:chExt cx="1556325" cy="1999350"/>
          </a:xfrm>
        </p:grpSpPr>
        <p:sp>
          <p:nvSpPr>
            <p:cNvPr id="258" name="Google Shape;258;p22"/>
            <p:cNvSpPr/>
            <p:nvPr/>
          </p:nvSpPr>
          <p:spPr>
            <a:xfrm flipH="1">
              <a:off x="8267750" y="48524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59" name="Google Shape;259;p22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0" name="Google Shape;260;p22"/>
            <p:cNvSpPr/>
            <p:nvPr/>
          </p:nvSpPr>
          <p:spPr>
            <a:xfrm flipH="1">
              <a:off x="9190475" y="3635025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1" name="Google Shape;261;p22"/>
            <p:cNvSpPr/>
            <p:nvPr/>
          </p:nvSpPr>
          <p:spPr>
            <a:xfrm flipH="1">
              <a:off x="9266675" y="30798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2" name="Google Shape;262;p22"/>
            <p:cNvSpPr/>
            <p:nvPr/>
          </p:nvSpPr>
          <p:spPr>
            <a:xfrm flipH="1">
              <a:off x="9359075" y="402282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63" name="Google Shape;263;p22"/>
          <p:cNvGrpSpPr/>
          <p:nvPr/>
        </p:nvGrpSpPr>
        <p:grpSpPr>
          <a:xfrm rot="10800000">
            <a:off x="-22200" y="-9725"/>
            <a:ext cx="9188400" cy="5143500"/>
            <a:chOff x="-100" y="-9725"/>
            <a:chExt cx="9188400" cy="5143500"/>
          </a:xfrm>
        </p:grpSpPr>
        <p:cxnSp>
          <p:nvCxnSpPr>
            <p:cNvPr id="264" name="Google Shape;264;p22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5" name="Google Shape;265;p22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3"/>
          <p:cNvGrpSpPr/>
          <p:nvPr/>
        </p:nvGrpSpPr>
        <p:grpSpPr>
          <a:xfrm rot="10800000">
            <a:off x="146400" y="82500"/>
            <a:ext cx="2989125" cy="4123875"/>
            <a:chOff x="6666350" y="917675"/>
            <a:chExt cx="2989125" cy="4123875"/>
          </a:xfrm>
        </p:grpSpPr>
        <p:sp>
          <p:nvSpPr>
            <p:cNvPr id="268" name="Google Shape;268;p23"/>
            <p:cNvSpPr/>
            <p:nvPr/>
          </p:nvSpPr>
          <p:spPr>
            <a:xfrm flipH="1">
              <a:off x="9428675" y="3938000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69" name="Google Shape;269;p23"/>
            <p:cNvSpPr/>
            <p:nvPr/>
          </p:nvSpPr>
          <p:spPr>
            <a:xfrm flipH="1">
              <a:off x="9266675" y="48900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0" name="Google Shape;270;p23"/>
            <p:cNvSpPr/>
            <p:nvPr/>
          </p:nvSpPr>
          <p:spPr>
            <a:xfrm flipH="1">
              <a:off x="8676125" y="4927700"/>
              <a:ext cx="76200" cy="76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1" name="Google Shape;271;p23"/>
            <p:cNvSpPr/>
            <p:nvPr/>
          </p:nvSpPr>
          <p:spPr>
            <a:xfrm flipH="1">
              <a:off x="6666350" y="4794350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72" name="Google Shape;272;p23"/>
            <p:cNvSpPr/>
            <p:nvPr/>
          </p:nvSpPr>
          <p:spPr>
            <a:xfrm flipH="1">
              <a:off x="9190475" y="917675"/>
              <a:ext cx="465000" cy="465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273" name="Google Shape;273;p23"/>
          <p:cNvGrpSpPr/>
          <p:nvPr/>
        </p:nvGrpSpPr>
        <p:grpSpPr>
          <a:xfrm flipH="1">
            <a:off x="-22200" y="-9725"/>
            <a:ext cx="9188400" cy="5153273"/>
            <a:chOff x="-100" y="-9725"/>
            <a:chExt cx="9188400" cy="5143500"/>
          </a:xfrm>
        </p:grpSpPr>
        <p:cxnSp>
          <p:nvCxnSpPr>
            <p:cNvPr id="274" name="Google Shape;274;p23"/>
            <p:cNvCxnSpPr/>
            <p:nvPr/>
          </p:nvCxnSpPr>
          <p:spPr>
            <a:xfrm>
              <a:off x="272250" y="-97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23"/>
            <p:cNvCxnSpPr/>
            <p:nvPr/>
          </p:nvCxnSpPr>
          <p:spPr>
            <a:xfrm rot="10800000">
              <a:off x="-100" y="4928275"/>
              <a:ext cx="9188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 Sans SemiBold"/>
              <a:buNone/>
              <a:defRPr sz="300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●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○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Franklin"/>
              <a:buChar char="■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65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>
            <a:spLocks noGrp="1"/>
          </p:cNvSpPr>
          <p:nvPr>
            <p:ph type="ctrTitle"/>
          </p:nvPr>
        </p:nvSpPr>
        <p:spPr>
          <a:xfrm>
            <a:off x="3898750" y="1246575"/>
            <a:ext cx="4532100" cy="20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Case Study</a:t>
            </a:r>
            <a:br>
              <a:rPr lang="en" b="1" dirty="0"/>
            </a:br>
            <a:br>
              <a:rPr lang="en" b="1" dirty="0"/>
            </a:br>
            <a:r>
              <a:rPr lang="en-ID" b="1" dirty="0"/>
              <a:t>A</a:t>
            </a:r>
            <a:r>
              <a:rPr lang="en" b="1" dirty="0"/>
              <a:t>nalisis Sales Data</a:t>
            </a:r>
            <a:endParaRPr b="1" dirty="0"/>
          </a:p>
        </p:txBody>
      </p:sp>
      <p:sp>
        <p:nvSpPr>
          <p:cNvPr id="287" name="Google Shape;287;p27"/>
          <p:cNvSpPr txBox="1">
            <a:spLocks noGrp="1"/>
          </p:cNvSpPr>
          <p:nvPr>
            <p:ph type="subTitle" idx="1"/>
          </p:nvPr>
        </p:nvSpPr>
        <p:spPr>
          <a:xfrm>
            <a:off x="3898750" y="3421125"/>
            <a:ext cx="4532100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Inayah Maula</a:t>
            </a:r>
            <a:endParaRPr dirty="0"/>
          </a:p>
        </p:txBody>
      </p:sp>
      <p:pic>
        <p:nvPicPr>
          <p:cNvPr id="288" name="Google Shape;2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888" y="757212"/>
            <a:ext cx="3117649" cy="35666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5964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/>
          <p:nvPr/>
        </p:nvSpPr>
        <p:spPr>
          <a:xfrm>
            <a:off x="5496375" y="3231375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28" name="Google Shape;328;p30"/>
          <p:cNvSpPr/>
          <p:nvPr/>
        </p:nvSpPr>
        <p:spPr>
          <a:xfrm flipH="1">
            <a:off x="7979250" y="4247200"/>
            <a:ext cx="586800" cy="586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803952-852A-4BEC-886D-B50E444DA66C}"/>
              </a:ext>
            </a:extLst>
          </p:cNvPr>
          <p:cNvSpPr/>
          <p:nvPr/>
        </p:nvSpPr>
        <p:spPr>
          <a:xfrm>
            <a:off x="3534266" y="481604"/>
            <a:ext cx="2488018" cy="6166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Task</a:t>
            </a:r>
            <a:endParaRPr lang="en-ID" sz="30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9E4ADC-D1B3-48F6-A7C5-EB73E86F8D95}"/>
              </a:ext>
            </a:extLst>
          </p:cNvPr>
          <p:cNvSpPr/>
          <p:nvPr/>
        </p:nvSpPr>
        <p:spPr>
          <a:xfrm>
            <a:off x="1307804" y="1416384"/>
            <a:ext cx="7258245" cy="9562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Identify the total sales for each year. Which year had the highest total sales?</a:t>
            </a:r>
            <a:endParaRPr lang="en-ID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2D1165-7F71-48CD-BC14-1C8EEBEC8F2D}"/>
              </a:ext>
            </a:extLst>
          </p:cNvPr>
          <p:cNvSpPr/>
          <p:nvPr/>
        </p:nvSpPr>
        <p:spPr>
          <a:xfrm>
            <a:off x="1307804" y="2571750"/>
            <a:ext cx="7258246" cy="9562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Which country had the highest sales of Classic Cars throughout 2004?</a:t>
            </a:r>
            <a:endParaRPr lang="en-ID" sz="2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20DF6D-B598-49A9-A591-7898A5DD11C8}"/>
              </a:ext>
            </a:extLst>
          </p:cNvPr>
          <p:cNvSpPr/>
          <p:nvPr/>
        </p:nvSpPr>
        <p:spPr>
          <a:xfrm>
            <a:off x="1307802" y="3709477"/>
            <a:ext cx="7258247" cy="95620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Which product line was sold the most (in quantity) throughout September 2003 to March 2004?</a:t>
            </a:r>
            <a:endParaRPr lang="en-ID" sz="2400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B5B20C81-052F-4195-8FED-2F49C85AD7A0}"/>
              </a:ext>
            </a:extLst>
          </p:cNvPr>
          <p:cNvSpPr/>
          <p:nvPr/>
        </p:nvSpPr>
        <p:spPr>
          <a:xfrm>
            <a:off x="577949" y="1671202"/>
            <a:ext cx="464041" cy="44656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D" dirty="0"/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6BC692D0-A0D2-45E7-B31B-7AA84380FBA6}"/>
              </a:ext>
            </a:extLst>
          </p:cNvPr>
          <p:cNvSpPr/>
          <p:nvPr/>
        </p:nvSpPr>
        <p:spPr>
          <a:xfrm>
            <a:off x="577949" y="2826568"/>
            <a:ext cx="464041" cy="44656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D" dirty="0"/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75FC0E8C-1C4E-4EB5-970C-27E33A99754C}"/>
              </a:ext>
            </a:extLst>
          </p:cNvPr>
          <p:cNvSpPr/>
          <p:nvPr/>
        </p:nvSpPr>
        <p:spPr>
          <a:xfrm>
            <a:off x="577949" y="3964295"/>
            <a:ext cx="464041" cy="446568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5546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EB92A8-9078-471D-A9E2-E85A9C730816}"/>
              </a:ext>
            </a:extLst>
          </p:cNvPr>
          <p:cNvSpPr/>
          <p:nvPr/>
        </p:nvSpPr>
        <p:spPr>
          <a:xfrm>
            <a:off x="220578" y="1573127"/>
            <a:ext cx="2767265" cy="2505578"/>
          </a:xfrm>
          <a:prstGeom prst="rect">
            <a:avLst/>
          </a:prstGeom>
          <a:solidFill>
            <a:srgbClr val="EAB3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751432-2B17-4201-A744-108811191298}"/>
              </a:ext>
            </a:extLst>
          </p:cNvPr>
          <p:cNvSpPr/>
          <p:nvPr/>
        </p:nvSpPr>
        <p:spPr>
          <a:xfrm>
            <a:off x="3188367" y="1573127"/>
            <a:ext cx="2767265" cy="2505578"/>
          </a:xfrm>
          <a:prstGeom prst="rect">
            <a:avLst/>
          </a:prstGeom>
          <a:solidFill>
            <a:srgbClr val="EAB3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DF4E4-46E6-4488-A7BF-5CC868E2751D}"/>
              </a:ext>
            </a:extLst>
          </p:cNvPr>
          <p:cNvSpPr/>
          <p:nvPr/>
        </p:nvSpPr>
        <p:spPr>
          <a:xfrm>
            <a:off x="6156156" y="1573127"/>
            <a:ext cx="2767265" cy="2505578"/>
          </a:xfrm>
          <a:prstGeom prst="rect">
            <a:avLst/>
          </a:prstGeom>
          <a:solidFill>
            <a:srgbClr val="EAB3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5CFC9BB-E1EC-4E85-9557-518D4A31E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679" y="2726335"/>
            <a:ext cx="2762164" cy="96809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4FAA03C-D4FE-430D-B731-C053CDD19256}"/>
              </a:ext>
            </a:extLst>
          </p:cNvPr>
          <p:cNvSpPr txBox="1"/>
          <p:nvPr/>
        </p:nvSpPr>
        <p:spPr>
          <a:xfrm>
            <a:off x="305269" y="1832390"/>
            <a:ext cx="2682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 err="1"/>
              <a:t>Tahun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total </a:t>
            </a:r>
            <a:r>
              <a:rPr lang="en-ID" sz="1600" dirty="0" err="1"/>
              <a:t>penjualan</a:t>
            </a:r>
            <a:r>
              <a:rPr lang="en-ID" sz="1600" dirty="0"/>
              <a:t> </a:t>
            </a:r>
            <a:r>
              <a:rPr lang="en-ID" sz="1600" dirty="0" err="1"/>
              <a:t>tertinggi</a:t>
            </a:r>
            <a:r>
              <a:rPr lang="en-ID" sz="1600" dirty="0"/>
              <a:t>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30F9C51-9187-4720-8B6C-4C7A713268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468" y="2726335"/>
            <a:ext cx="2762164" cy="11735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83001BF-DA82-455E-BC63-8773BC1693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6156" y="2727101"/>
            <a:ext cx="2762164" cy="117279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FFDC8DE-5863-476F-BCED-97542A167E8D}"/>
              </a:ext>
            </a:extLst>
          </p:cNvPr>
          <p:cNvSpPr txBox="1"/>
          <p:nvPr/>
        </p:nvSpPr>
        <p:spPr>
          <a:xfrm>
            <a:off x="3148571" y="1734233"/>
            <a:ext cx="2846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/>
              <a:t>Negara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penjualan</a:t>
            </a:r>
            <a:r>
              <a:rPr lang="en-ID" sz="1600" dirty="0"/>
              <a:t> Classic Cars </a:t>
            </a:r>
            <a:r>
              <a:rPr lang="en-ID" sz="1600" dirty="0" err="1"/>
              <a:t>tertinggi</a:t>
            </a:r>
            <a:r>
              <a:rPr lang="en-ID" sz="1600" dirty="0"/>
              <a:t> </a:t>
            </a:r>
            <a:r>
              <a:rPr lang="en-ID" sz="1600" dirty="0" err="1"/>
              <a:t>sepanjang</a:t>
            </a:r>
            <a:r>
              <a:rPr lang="en-ID" sz="1600" dirty="0"/>
              <a:t> 2004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0CBD91-976C-47A4-B1B9-BADF1004622F}"/>
              </a:ext>
            </a:extLst>
          </p:cNvPr>
          <p:cNvSpPr txBox="1"/>
          <p:nvPr/>
        </p:nvSpPr>
        <p:spPr>
          <a:xfrm>
            <a:off x="6195951" y="1648420"/>
            <a:ext cx="26825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dirty="0"/>
              <a:t>Product line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jumlah</a:t>
            </a:r>
            <a:r>
              <a:rPr lang="en-ID" sz="1600" dirty="0"/>
              <a:t> </a:t>
            </a:r>
            <a:r>
              <a:rPr lang="en-ID" sz="1600" dirty="0" err="1"/>
              <a:t>barang</a:t>
            </a:r>
            <a:r>
              <a:rPr lang="en-ID" sz="1600" dirty="0"/>
              <a:t> </a:t>
            </a:r>
            <a:r>
              <a:rPr lang="en-ID" sz="1600" dirty="0" err="1"/>
              <a:t>terjual</a:t>
            </a:r>
            <a:r>
              <a:rPr lang="en-ID" sz="1600" dirty="0"/>
              <a:t> </a:t>
            </a:r>
            <a:r>
              <a:rPr lang="en-ID" sz="1600" dirty="0" err="1"/>
              <a:t>terbanyak</a:t>
            </a:r>
            <a:r>
              <a:rPr lang="en-ID" sz="1600" dirty="0"/>
              <a:t> </a:t>
            </a:r>
            <a:r>
              <a:rPr lang="en-ID" sz="1600" dirty="0" err="1"/>
              <a:t>selama</a:t>
            </a:r>
            <a:r>
              <a:rPr lang="en-ID" sz="1600" dirty="0"/>
              <a:t> September 2003–</a:t>
            </a:r>
            <a:r>
              <a:rPr lang="en-ID" sz="1600" dirty="0" err="1"/>
              <a:t>Maret</a:t>
            </a:r>
            <a:r>
              <a:rPr lang="en-ID" sz="1600" dirty="0"/>
              <a:t> 2004.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36380F9-75F8-4E62-860B-DDB5B661F995}"/>
              </a:ext>
            </a:extLst>
          </p:cNvPr>
          <p:cNvSpPr/>
          <p:nvPr/>
        </p:nvSpPr>
        <p:spPr>
          <a:xfrm>
            <a:off x="1725131" y="654616"/>
            <a:ext cx="5693735" cy="616688"/>
          </a:xfrm>
          <a:prstGeom prst="roundRect">
            <a:avLst/>
          </a:prstGeom>
          <a:solidFill>
            <a:srgbClr val="EAB3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</a:rPr>
              <a:t>SQL Query Results</a:t>
            </a:r>
            <a:endParaRPr lang="en-ID" sz="30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16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EB92A8-9078-471D-A9E2-E85A9C730816}"/>
              </a:ext>
            </a:extLst>
          </p:cNvPr>
          <p:cNvSpPr/>
          <p:nvPr/>
        </p:nvSpPr>
        <p:spPr>
          <a:xfrm>
            <a:off x="246646" y="1108009"/>
            <a:ext cx="8650704" cy="371475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36380F9-75F8-4E62-860B-DDB5B661F995}"/>
              </a:ext>
            </a:extLst>
          </p:cNvPr>
          <p:cNvSpPr/>
          <p:nvPr/>
        </p:nvSpPr>
        <p:spPr>
          <a:xfrm>
            <a:off x="1725131" y="245542"/>
            <a:ext cx="5693735" cy="61668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solidFill>
                  <a:schemeClr val="accent3"/>
                </a:solidFill>
              </a:rPr>
              <a:t>Dashboard</a:t>
            </a:r>
            <a:endParaRPr lang="en-ID" sz="3000" b="1" dirty="0">
              <a:solidFill>
                <a:schemeClr val="accent3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7C481C-B71C-4A3B-9334-309A696A22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560" y="1137378"/>
            <a:ext cx="9084879" cy="3656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94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/>
          <p:nvPr/>
        </p:nvSpPr>
        <p:spPr>
          <a:xfrm>
            <a:off x="5496375" y="3231375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28" name="Google Shape;328;p30"/>
          <p:cNvSpPr/>
          <p:nvPr/>
        </p:nvSpPr>
        <p:spPr>
          <a:xfrm flipH="1">
            <a:off x="7979250" y="4247200"/>
            <a:ext cx="586800" cy="586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803952-852A-4BEC-886D-B50E444DA66C}"/>
              </a:ext>
            </a:extLst>
          </p:cNvPr>
          <p:cNvSpPr/>
          <p:nvPr/>
        </p:nvSpPr>
        <p:spPr>
          <a:xfrm>
            <a:off x="1448685" y="464883"/>
            <a:ext cx="6246628" cy="796924"/>
          </a:xfrm>
          <a:prstGeom prst="roundRect">
            <a:avLst/>
          </a:prstGeom>
          <a:solidFill>
            <a:srgbClr val="EAB3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err="1">
                <a:solidFill>
                  <a:srgbClr val="000000"/>
                </a:solidFill>
              </a:rPr>
              <a:t>Rekomendsi</a:t>
            </a:r>
            <a:r>
              <a:rPr lang="en-US" sz="2600" b="1" dirty="0">
                <a:solidFill>
                  <a:srgbClr val="000000"/>
                </a:solidFill>
              </a:rPr>
              <a:t> </a:t>
            </a:r>
            <a:r>
              <a:rPr lang="en-US" sz="2600" b="1" dirty="0" err="1">
                <a:solidFill>
                  <a:srgbClr val="000000"/>
                </a:solidFill>
              </a:rPr>
              <a:t>Berdasarkan</a:t>
            </a:r>
            <a:r>
              <a:rPr lang="en-US" sz="2600" b="1" dirty="0">
                <a:solidFill>
                  <a:srgbClr val="000000"/>
                </a:solidFill>
              </a:rPr>
              <a:t> Classic Cars Sales</a:t>
            </a:r>
            <a:endParaRPr lang="en-ID" sz="2600" b="1" dirty="0">
              <a:solidFill>
                <a:srgbClr val="000000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9E4ADC-D1B3-48F6-A7C5-EB73E86F8D95}"/>
              </a:ext>
            </a:extLst>
          </p:cNvPr>
          <p:cNvSpPr/>
          <p:nvPr/>
        </p:nvSpPr>
        <p:spPr>
          <a:xfrm>
            <a:off x="451883" y="1578681"/>
            <a:ext cx="3556590" cy="699495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accent3"/>
                </a:solidFill>
              </a:rPr>
              <a:t>Prioritas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Distsribusi</a:t>
            </a:r>
            <a:endParaRPr lang="en-ID" sz="2400" dirty="0">
              <a:solidFill>
                <a:schemeClr val="accent3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2D1165-7F71-48CD-BC14-1C8EEBEC8F2D}"/>
              </a:ext>
            </a:extLst>
          </p:cNvPr>
          <p:cNvSpPr/>
          <p:nvPr/>
        </p:nvSpPr>
        <p:spPr>
          <a:xfrm>
            <a:off x="4571999" y="1583064"/>
            <a:ext cx="4120116" cy="695112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accent3"/>
                </a:solidFill>
              </a:rPr>
              <a:t>Penyesuaian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Ketersediaan</a:t>
            </a:r>
            <a:r>
              <a:rPr lang="en-US" sz="2400" dirty="0">
                <a:solidFill>
                  <a:schemeClr val="accent3"/>
                </a:solidFill>
              </a:rPr>
              <a:t> </a:t>
            </a:r>
            <a:r>
              <a:rPr lang="en-US" sz="2400" dirty="0" err="1">
                <a:solidFill>
                  <a:schemeClr val="accent3"/>
                </a:solidFill>
              </a:rPr>
              <a:t>Produk</a:t>
            </a:r>
            <a:endParaRPr lang="en-ID" sz="2400" dirty="0">
              <a:solidFill>
                <a:schemeClr val="accent3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20DF6D-B598-49A9-A591-7898A5DD11C8}"/>
              </a:ext>
            </a:extLst>
          </p:cNvPr>
          <p:cNvSpPr/>
          <p:nvPr/>
        </p:nvSpPr>
        <p:spPr>
          <a:xfrm>
            <a:off x="451883" y="2309720"/>
            <a:ext cx="3556591" cy="2524280"/>
          </a:xfrm>
          <a:prstGeom prst="roundRect">
            <a:avLst/>
          </a:prstGeom>
          <a:solidFill>
            <a:srgbClr val="EAB3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Negara </a:t>
            </a:r>
            <a:r>
              <a:rPr lang="en-US" sz="2400" dirty="0" err="1">
                <a:solidFill>
                  <a:srgbClr val="000000"/>
                </a:solidFill>
              </a:rPr>
              <a:t>dengan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penjualan</a:t>
            </a:r>
            <a:r>
              <a:rPr lang="en-US" sz="2400" dirty="0">
                <a:solidFill>
                  <a:srgbClr val="000000"/>
                </a:solidFill>
              </a:rPr>
              <a:t> Classic Cars yang </a:t>
            </a:r>
            <a:r>
              <a:rPr lang="en-US" sz="2400" dirty="0" err="1">
                <a:solidFill>
                  <a:srgbClr val="000000"/>
                </a:solidFill>
              </a:rPr>
              <a:t>tinggi</a:t>
            </a:r>
            <a:r>
              <a:rPr lang="en-US" sz="2400" dirty="0">
                <a:solidFill>
                  <a:srgbClr val="000000"/>
                </a:solidFill>
              </a:rPr>
              <a:t> (USA), </a:t>
            </a:r>
            <a:r>
              <a:rPr lang="en-US" sz="2400" dirty="0" err="1">
                <a:solidFill>
                  <a:srgbClr val="000000"/>
                </a:solidFill>
              </a:rPr>
              <a:t>dapat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menjadi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prioritas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dalam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perencanaan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distribusi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produk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  <a:endParaRPr lang="en-ID" sz="2400" dirty="0">
              <a:solidFill>
                <a:srgbClr val="00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5B5CE5-13A2-48DF-BED6-159E4F9D67DC}"/>
              </a:ext>
            </a:extLst>
          </p:cNvPr>
          <p:cNvSpPr/>
          <p:nvPr/>
        </p:nvSpPr>
        <p:spPr>
          <a:xfrm>
            <a:off x="4572001" y="2311049"/>
            <a:ext cx="4120116" cy="2522951"/>
          </a:xfrm>
          <a:prstGeom prst="roundRect">
            <a:avLst/>
          </a:prstGeom>
          <a:solidFill>
            <a:srgbClr val="EAB3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Data </a:t>
            </a:r>
            <a:r>
              <a:rPr lang="en-US" sz="2400" dirty="0" err="1">
                <a:solidFill>
                  <a:srgbClr val="000000"/>
                </a:solidFill>
              </a:rPr>
              <a:t>penjualan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berdasarkan</a:t>
            </a:r>
            <a:r>
              <a:rPr lang="en-US" sz="2400" dirty="0">
                <a:solidFill>
                  <a:srgbClr val="000000"/>
                </a:solidFill>
              </a:rPr>
              <a:t> negara </a:t>
            </a:r>
            <a:r>
              <a:rPr lang="en-US" sz="2400" dirty="0" err="1">
                <a:solidFill>
                  <a:srgbClr val="000000"/>
                </a:solidFill>
              </a:rPr>
              <a:t>dapat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membantu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menyesuaikan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ketersediaan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produk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dengan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tingkat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permintaan</a:t>
            </a:r>
            <a:r>
              <a:rPr lang="en-US" sz="2400" dirty="0">
                <a:solidFill>
                  <a:srgbClr val="000000"/>
                </a:solidFill>
              </a:rPr>
              <a:t> di masing-masing pasar.</a:t>
            </a:r>
            <a:endParaRPr lang="en-ID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192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/>
          <p:nvPr/>
        </p:nvSpPr>
        <p:spPr>
          <a:xfrm>
            <a:off x="5496375" y="3231375"/>
            <a:ext cx="4184100" cy="4184100"/>
          </a:xfrm>
          <a:prstGeom prst="ellipse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28" name="Google Shape;328;p30"/>
          <p:cNvSpPr/>
          <p:nvPr/>
        </p:nvSpPr>
        <p:spPr>
          <a:xfrm flipH="1">
            <a:off x="7979250" y="4247200"/>
            <a:ext cx="586800" cy="5868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803952-852A-4BEC-886D-B50E444DA66C}"/>
              </a:ext>
            </a:extLst>
          </p:cNvPr>
          <p:cNvSpPr/>
          <p:nvPr/>
        </p:nvSpPr>
        <p:spPr>
          <a:xfrm>
            <a:off x="1448685" y="464883"/>
            <a:ext cx="6246628" cy="7969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b="1" dirty="0" err="1"/>
              <a:t>Rekomendasi</a:t>
            </a:r>
            <a:r>
              <a:rPr lang="en-US" sz="2600" b="1" dirty="0"/>
              <a:t> </a:t>
            </a:r>
            <a:r>
              <a:rPr lang="en-US" sz="2600" b="1" dirty="0" err="1"/>
              <a:t>Berdasarkan</a:t>
            </a:r>
            <a:r>
              <a:rPr lang="en-US" sz="2600" b="1" dirty="0"/>
              <a:t> Quantity Sold</a:t>
            </a:r>
            <a:endParaRPr lang="en-ID" sz="26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9E4ADC-D1B3-48F6-A7C5-EB73E86F8D95}"/>
              </a:ext>
            </a:extLst>
          </p:cNvPr>
          <p:cNvSpPr/>
          <p:nvPr/>
        </p:nvSpPr>
        <p:spPr>
          <a:xfrm>
            <a:off x="451883" y="1578681"/>
            <a:ext cx="3556590" cy="699495"/>
          </a:xfrm>
          <a:prstGeom prst="roundRect">
            <a:avLst/>
          </a:prstGeom>
          <a:solidFill>
            <a:srgbClr val="EAB3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Prioritas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Stok</a:t>
            </a:r>
            <a:endParaRPr lang="en-ID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2D1165-7F71-48CD-BC14-1C8EEBEC8F2D}"/>
              </a:ext>
            </a:extLst>
          </p:cNvPr>
          <p:cNvSpPr/>
          <p:nvPr/>
        </p:nvSpPr>
        <p:spPr>
          <a:xfrm>
            <a:off x="4976035" y="1583064"/>
            <a:ext cx="3716080" cy="695112"/>
          </a:xfrm>
          <a:prstGeom prst="roundRect">
            <a:avLst/>
          </a:prstGeom>
          <a:solidFill>
            <a:srgbClr val="EAB3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Evaluasi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</a:rPr>
              <a:t>Produk</a:t>
            </a:r>
            <a:endParaRPr lang="en-ID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20DF6D-B598-49A9-A591-7898A5DD11C8}"/>
              </a:ext>
            </a:extLst>
          </p:cNvPr>
          <p:cNvSpPr/>
          <p:nvPr/>
        </p:nvSpPr>
        <p:spPr>
          <a:xfrm>
            <a:off x="451883" y="2309720"/>
            <a:ext cx="3556591" cy="25242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Product line </a:t>
            </a:r>
            <a:r>
              <a:rPr lang="en-US" sz="2400" dirty="0" err="1"/>
              <a:t>dengan</a:t>
            </a:r>
            <a:r>
              <a:rPr lang="en-US" sz="2400" dirty="0"/>
              <a:t> quantity </a:t>
            </a:r>
            <a:r>
              <a:rPr lang="en-US" sz="2400" dirty="0" err="1"/>
              <a:t>penjualan</a:t>
            </a:r>
            <a:r>
              <a:rPr lang="en-US" sz="2400" dirty="0"/>
              <a:t> </a:t>
            </a:r>
            <a:r>
              <a:rPr lang="en-US" sz="2400" dirty="0" err="1"/>
              <a:t>tinggi</a:t>
            </a:r>
            <a:r>
              <a:rPr lang="en-US" sz="2400" dirty="0"/>
              <a:t> (Classic Cars)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prioritas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pengelolaan</a:t>
            </a:r>
            <a:r>
              <a:rPr lang="en-US" sz="2400" dirty="0"/>
              <a:t> </a:t>
            </a:r>
            <a:r>
              <a:rPr lang="en-US" sz="2400" dirty="0" err="1"/>
              <a:t>persediaan</a:t>
            </a:r>
            <a:r>
              <a:rPr lang="en-US" sz="2400" dirty="0"/>
              <a:t>.</a:t>
            </a:r>
            <a:endParaRPr lang="en-ID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5B5CE5-13A2-48DF-BED6-159E4F9D67DC}"/>
              </a:ext>
            </a:extLst>
          </p:cNvPr>
          <p:cNvSpPr/>
          <p:nvPr/>
        </p:nvSpPr>
        <p:spPr>
          <a:xfrm>
            <a:off x="4976037" y="2311049"/>
            <a:ext cx="3716080" cy="25229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Produk</a:t>
            </a:r>
            <a:r>
              <a:rPr lang="en-US" sz="2400" dirty="0"/>
              <a:t> line </a:t>
            </a:r>
            <a:r>
              <a:rPr lang="en-US" sz="2400" dirty="0" err="1"/>
              <a:t>dengan</a:t>
            </a:r>
            <a:r>
              <a:rPr lang="en-US" sz="2400" dirty="0"/>
              <a:t> quantity </a:t>
            </a:r>
            <a:r>
              <a:rPr lang="en-US" sz="2400" dirty="0" err="1"/>
              <a:t>rendah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dievaluasi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 </a:t>
            </a:r>
            <a:r>
              <a:rPr lang="en-US" sz="2400" dirty="0" err="1"/>
              <a:t>kebutuhan</a:t>
            </a:r>
            <a:r>
              <a:rPr lang="en-US" sz="2400" dirty="0"/>
              <a:t> </a:t>
            </a:r>
            <a:r>
              <a:rPr lang="en-US" sz="2400" dirty="0" err="1"/>
              <a:t>stoknya</a:t>
            </a:r>
            <a:r>
              <a:rPr lang="en-US" sz="2400" dirty="0"/>
              <a:t>.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1791252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175" y="1183213"/>
            <a:ext cx="3267150" cy="2777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0" name="Google Shape;420;p37"/>
          <p:cNvGrpSpPr/>
          <p:nvPr/>
        </p:nvGrpSpPr>
        <p:grpSpPr>
          <a:xfrm>
            <a:off x="1099625" y="656725"/>
            <a:ext cx="1560225" cy="676400"/>
            <a:chOff x="1099625" y="656725"/>
            <a:chExt cx="1560225" cy="676400"/>
          </a:xfrm>
        </p:grpSpPr>
        <p:sp>
          <p:nvSpPr>
            <p:cNvPr id="421" name="Google Shape;421;p37"/>
            <p:cNvSpPr/>
            <p:nvPr/>
          </p:nvSpPr>
          <p:spPr>
            <a:xfrm rot="10800000">
              <a:off x="2073050" y="656725"/>
              <a:ext cx="586800" cy="58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2" name="Google Shape;422;p37"/>
            <p:cNvSpPr/>
            <p:nvPr/>
          </p:nvSpPr>
          <p:spPr>
            <a:xfrm rot="10800000">
              <a:off x="1099625" y="1106325"/>
              <a:ext cx="226800" cy="226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grpSp>
        <p:nvGrpSpPr>
          <p:cNvPr id="423" name="Google Shape;423;p37"/>
          <p:cNvGrpSpPr/>
          <p:nvPr/>
        </p:nvGrpSpPr>
        <p:grpSpPr>
          <a:xfrm>
            <a:off x="1397425" y="3751725"/>
            <a:ext cx="2068900" cy="648825"/>
            <a:chOff x="1397425" y="3751725"/>
            <a:chExt cx="2068900" cy="648825"/>
          </a:xfrm>
        </p:grpSpPr>
        <p:sp>
          <p:nvSpPr>
            <p:cNvPr id="424" name="Google Shape;424;p37"/>
            <p:cNvSpPr/>
            <p:nvPr/>
          </p:nvSpPr>
          <p:spPr>
            <a:xfrm rot="10800000">
              <a:off x="1397425" y="37517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5" name="Google Shape;425;p37"/>
            <p:cNvSpPr/>
            <p:nvPr/>
          </p:nvSpPr>
          <p:spPr>
            <a:xfrm rot="10800000">
              <a:off x="3124850" y="3751725"/>
              <a:ext cx="151500" cy="1515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26" name="Google Shape;426;p37"/>
            <p:cNvSpPr/>
            <p:nvPr/>
          </p:nvSpPr>
          <p:spPr>
            <a:xfrm rot="10800000">
              <a:off x="3388025" y="4322550"/>
              <a:ext cx="78300" cy="780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6" name="Google Shape;554;p46">
            <a:extLst>
              <a:ext uri="{FF2B5EF4-FFF2-40B4-BE49-F238E27FC236}">
                <a16:creationId xmlns:a16="http://schemas.microsoft.com/office/drawing/2014/main" id="{7E9142F6-4A0D-4735-AB88-22CA246194A5}"/>
              </a:ext>
            </a:extLst>
          </p:cNvPr>
          <p:cNvSpPr txBox="1">
            <a:spLocks/>
          </p:cNvSpPr>
          <p:nvPr/>
        </p:nvSpPr>
        <p:spPr>
          <a:xfrm>
            <a:off x="857450" y="1272441"/>
            <a:ext cx="3604800" cy="2598617"/>
          </a:xfrm>
          <a:prstGeom prst="rect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fia Sans SemiBold"/>
              <a:buNone/>
              <a:defRPr sz="4800" b="0" i="0" u="none" strike="noStrike" cap="none" spc="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fia Sans SemiBold"/>
              <a:buNone/>
              <a:defRPr sz="9600" b="0" i="0" u="none" strike="noStrike" cap="none" spc="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fia Sans SemiBold"/>
              <a:buNone/>
              <a:defRPr sz="9600" b="0" i="0" u="none" strike="noStrike" cap="none" spc="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fia Sans SemiBold"/>
              <a:buNone/>
              <a:defRPr sz="9600" b="0" i="0" u="none" strike="noStrike" cap="none" spc="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fia Sans SemiBold"/>
              <a:buNone/>
              <a:defRPr sz="9600" b="0" i="0" u="none" strike="noStrike" cap="none" spc="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fia Sans SemiBold"/>
              <a:buNone/>
              <a:defRPr sz="9600" b="0" i="0" u="none" strike="noStrike" cap="none" spc="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fia Sans SemiBold"/>
              <a:buNone/>
              <a:defRPr sz="9600" b="0" i="0" u="none" strike="noStrike" cap="none" spc="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fia Sans SemiBold"/>
              <a:buNone/>
              <a:defRPr sz="9600" b="0" i="0" u="none" strike="noStrike" cap="none" spc="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Sofia Sans SemiBold"/>
              <a:buNone/>
              <a:defRPr sz="9600" b="0" i="0" u="none" strike="noStrike" cap="none" spc="0">
                <a:solidFill>
                  <a:schemeClr val="dk1"/>
                </a:solidFill>
                <a:latin typeface="Sofia Sans SemiBold"/>
                <a:ea typeface="Sofia Sans SemiBold"/>
                <a:cs typeface="Sofia Sans SemiBold"/>
                <a:sym typeface="Sofia Sans SemiBold"/>
              </a:defRPr>
            </a:lvl9pPr>
          </a:lstStyle>
          <a:p>
            <a:pPr algn="l"/>
            <a:r>
              <a:rPr lang="en-ID" sz="8000" dirty="0" err="1"/>
              <a:t>Terima</a:t>
            </a:r>
            <a:r>
              <a:rPr lang="en-ID" sz="8000" dirty="0"/>
              <a:t>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 Data Analytics Project Proposal by Slidesgo">
  <a:themeElements>
    <a:clrScheme name="Simple Light">
      <a:dk1>
        <a:srgbClr val="1F0F61"/>
      </a:dk1>
      <a:lt1>
        <a:srgbClr val="FCF1FC"/>
      </a:lt1>
      <a:dk2>
        <a:srgbClr val="EEE9F5"/>
      </a:dk2>
      <a:lt2>
        <a:srgbClr val="EEC0FB"/>
      </a:lt2>
      <a:accent1>
        <a:srgbClr val="6B5DA3"/>
      </a:accent1>
      <a:accent2>
        <a:srgbClr val="7B7BB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F0F6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174</Words>
  <Application>Microsoft Office PowerPoint</Application>
  <PresentationFormat>On-screen Show (16:9)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Sofia Sans SemiBold</vt:lpstr>
      <vt:lpstr>Sofia Sans</vt:lpstr>
      <vt:lpstr>Nunito Light</vt:lpstr>
      <vt:lpstr>Libre Franklin</vt:lpstr>
      <vt:lpstr>Raleway</vt:lpstr>
      <vt:lpstr>Open Sans</vt:lpstr>
      <vt:lpstr>Big Data Analytics Project Proposal by Slidesgo</vt:lpstr>
      <vt:lpstr>Case Study  Analisis Sales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Analisis roject Proposal</dc:title>
  <dc:creator>Samsung</dc:creator>
  <cp:lastModifiedBy>Inayah Maula</cp:lastModifiedBy>
  <cp:revision>136</cp:revision>
  <dcterms:modified xsi:type="dcterms:W3CDTF">2026-10-10T19:22:01Z</dcterms:modified>
</cp:coreProperties>
</file>